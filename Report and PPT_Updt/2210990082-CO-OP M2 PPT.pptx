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56" r:id="rId5"/>
    <p:sldId id="257" r:id="rId6"/>
    <p:sldId id="270" r:id="rId7"/>
    <p:sldId id="269" r:id="rId8"/>
    <p:sldId id="271" r:id="rId9"/>
    <p:sldId id="272" r:id="rId10"/>
    <p:sldId id="268" r:id="rId11"/>
    <p:sldId id="273" r:id="rId12"/>
    <p:sldId id="275" r:id="rId13"/>
    <p:sldId id="274" r:id="rId14"/>
    <p:sldId id="276"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42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5/16/2026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5/16/2026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3</a:t>
            </a:fld>
            <a:endParaRPr lang="en-US"/>
          </a:p>
        </p:txBody>
      </p:sp>
    </p:spTree>
    <p:extLst>
      <p:ext uri="{BB962C8B-B14F-4D97-AF65-F5344CB8AC3E}">
        <p14:creationId xmlns:p14="http://schemas.microsoft.com/office/powerpoint/2010/main" val="25878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5</a:t>
            </a:fld>
            <a:endParaRPr lang="en-US"/>
          </a:p>
        </p:txBody>
      </p:sp>
    </p:spTree>
    <p:extLst>
      <p:ext uri="{BB962C8B-B14F-4D97-AF65-F5344CB8AC3E}">
        <p14:creationId xmlns:p14="http://schemas.microsoft.com/office/powerpoint/2010/main" val="153971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5/16/2026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000" dirty="0"/>
              <a:t>The Rising Threat of Ransomware: Trends, Impact, and Prevention Strategies</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GAURAV PANDEY   SHIVAM PARMAR    AKASHDEEP PAL  </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2210991571                  2210992315               2210990082</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Gurpreet Singh</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188960" y="0"/>
            <a:ext cx="4114320" cy="837720"/>
          </a:xfrm>
          <a:prstGeom prst="rect">
            <a:avLst/>
          </a:prstGeom>
          <a:noFill/>
          <a:ln w="9360">
            <a:noFill/>
          </a:ln>
        </p:spPr>
        <p:txBody>
          <a:bodyPr anchor="ctr">
            <a:noAutofit/>
          </a:bodyPr>
          <a:lstStyle/>
          <a:p>
            <a:pPr algn="ctr">
              <a:lnSpc>
                <a:spcPct val="100000"/>
              </a:lnSpc>
            </a:pPr>
            <a:r>
              <a:rPr lang="en" sz="3600" dirty="0">
                <a:latin typeface="Times New Roman" panose="02020603050405020304" pitchFamily="18" charset="0"/>
                <a:cs typeface="Times New Roman" panose="02020603050405020304" pitchFamily="18" charset="0"/>
              </a:rPr>
              <a:t>Introduction</a:t>
            </a:r>
            <a:endParaRPr lang="en-US" sz="36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640" y="837720"/>
            <a:ext cx="8838720" cy="5518800"/>
          </a:xfrm>
          <a:prstGeom prst="rect">
            <a:avLst/>
          </a:prstGeom>
          <a:noFill/>
          <a:ln w="9360">
            <a:noFill/>
          </a:ln>
        </p:spPr>
        <p:txBody>
          <a:bodyPr>
            <a:noAutofit/>
          </a:bodyPr>
          <a:lstStyle/>
          <a:p>
            <a:pPr marL="342900" indent="-342900" algn="just">
              <a:lnSpc>
                <a:spcPct val="150000"/>
              </a:lnSpc>
              <a:spcBef>
                <a:spcPts val="400"/>
              </a:spcBef>
              <a:buFont typeface="Arial" panose="020B0604020202020204" pitchFamily="34" charset="0"/>
              <a:buChar char="•"/>
            </a:pPr>
            <a:r>
              <a:rPr lang="en-US" sz="2000" dirty="0"/>
              <a:t>Ransomware is a type of malicious software that encrypts user data and demands a ransom payment in exchange for the decryption key. </a:t>
            </a:r>
          </a:p>
          <a:p>
            <a:pPr marL="342900" indent="-342900" algn="just">
              <a:lnSpc>
                <a:spcPct val="150000"/>
              </a:lnSpc>
              <a:spcBef>
                <a:spcPts val="400"/>
              </a:spcBef>
              <a:buFont typeface="Arial" panose="020B0604020202020204" pitchFamily="34" charset="0"/>
              <a:buChar char="•"/>
            </a:pPr>
            <a:r>
              <a:rPr lang="en-US" sz="2000" dirty="0"/>
              <a:t> Ransomware has evolved from a simple cyber threat targeting individuals into a highly organized cybercrime industry that attacks hospitals, government agencies, financial institutions, educational organizations, and critical infrastructure.</a:t>
            </a:r>
          </a:p>
          <a:p>
            <a:pPr marL="342900" indent="-342900" algn="just">
              <a:lnSpc>
                <a:spcPct val="150000"/>
              </a:lnSpc>
              <a:spcBef>
                <a:spcPts val="400"/>
              </a:spcBef>
              <a:buFont typeface="Arial" panose="020B0604020202020204" pitchFamily="34" charset="0"/>
              <a:buChar char="•"/>
            </a:pPr>
            <a:r>
              <a:rPr lang="en-US" sz="2000" dirty="0"/>
              <a:t> The rapid growth of Ransomware-as-a-Service platforms has made ransomware tools available even to low-skilled cybercriminals. </a:t>
            </a:r>
          </a:p>
          <a:p>
            <a:pPr marL="342900" indent="-342900" algn="just">
              <a:lnSpc>
                <a:spcPct val="150000"/>
              </a:lnSpc>
              <a:spcBef>
                <a:spcPts val="400"/>
              </a:spcBef>
              <a:buFont typeface="Arial" panose="020B0604020202020204" pitchFamily="34" charset="0"/>
              <a:buChar char="•"/>
            </a:pPr>
            <a:r>
              <a:rPr lang="en-US" sz="2000" dirty="0"/>
              <a:t>The use of cryptocurrencies such as Bitcoin has further enabled attackers to receive anonymous payments. This research paper studies ransomware trends between 2015 and 2025, major attack techniques, encryption mechanisms, extortion and prevention strategies. </a:t>
            </a:r>
            <a:endParaRPr lang="en-US" sz="2000" b="0" strike="noStrike" spc="-1" dirty="0">
              <a:solidFill>
                <a:srgbClr val="000000"/>
              </a:solidFill>
              <a:latin typeface="Calibri"/>
            </a:endParaRPr>
          </a:p>
          <a:p>
            <a:pPr algn="just">
              <a:lnSpc>
                <a:spcPct val="150000"/>
              </a:lnSpc>
              <a:spcBef>
                <a:spcPts val="400"/>
              </a:spcBef>
            </a:pPr>
            <a:endParaRPr lang="en-US" sz="2000" b="0" strike="noStrike" spc="-1" dirty="0">
              <a:solidFill>
                <a:srgbClr val="000000"/>
              </a:solidFill>
              <a:latin typeface="Calibri"/>
            </a:endParaRPr>
          </a:p>
          <a:p>
            <a:pPr algn="just">
              <a:lnSpc>
                <a:spcPct val="100000"/>
              </a:lnSpc>
              <a:spcBef>
                <a:spcPts val="400"/>
              </a:spcBef>
            </a:pPr>
            <a:endParaRPr lang="en-US" sz="2000" b="0" strike="noStrike" spc="-1" dirty="0">
              <a:solidFill>
                <a:srgbClr val="000000"/>
              </a:solidFill>
              <a:latin typeface="Calibri"/>
            </a:endParaRPr>
          </a:p>
          <a:p>
            <a:pPr algn="just">
              <a:lnSpc>
                <a:spcPct val="100000"/>
              </a:lnSpc>
              <a:spcBef>
                <a:spcPts val="400"/>
              </a:spcBef>
            </a:pPr>
            <a:endParaRPr lang="en-US" sz="2000" b="0" strike="noStrike" spc="-1" dirty="0">
              <a:solidFill>
                <a:srgbClr val="000000"/>
              </a:solidFill>
              <a:latin typeface="Calibri"/>
            </a:endParaRPr>
          </a:p>
          <a:p>
            <a:pPr algn="just">
              <a:lnSpc>
                <a:spcPct val="100000"/>
              </a:lnSpc>
              <a:spcBef>
                <a:spcPts val="400"/>
              </a:spcBef>
            </a:pPr>
            <a:endParaRPr lang="en-US" sz="2000" b="0" strike="noStrike" spc="-1" dirty="0">
              <a:solidFill>
                <a:srgbClr val="000000"/>
              </a:solidFill>
              <a:latin typeface="Calibri"/>
            </a:endParaRPr>
          </a:p>
          <a:p>
            <a:pPr algn="just">
              <a:lnSpc>
                <a:spcPct val="100000"/>
              </a:lnSpc>
              <a:spcBef>
                <a:spcPts val="400"/>
              </a:spcBef>
            </a:pPr>
            <a:endParaRPr lang="en-US" sz="2000" b="0" strike="noStrike" spc="-1" dirty="0">
              <a:solidFill>
                <a:srgbClr val="000000"/>
              </a:solidFill>
              <a:latin typeface="Calibri"/>
            </a:endParaRPr>
          </a:p>
          <a:p>
            <a:pPr algn="just">
              <a:lnSpc>
                <a:spcPct val="100000"/>
              </a:lnSpc>
              <a:spcBef>
                <a:spcPts val="400"/>
              </a:spcBef>
            </a:pPr>
            <a:endParaRPr lang="en-US" sz="20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3E1F8A-B2A8-3773-2424-F11CD49AEEFE}"/>
              </a:ext>
            </a:extLst>
          </p:cNvPr>
          <p:cNvSpPr>
            <a:spLocks noGrp="1"/>
          </p:cNvSpPr>
          <p:nvPr>
            <p:ph type="title"/>
          </p:nvPr>
        </p:nvSpPr>
        <p:spPr>
          <a:xfrm>
            <a:off x="1036320" y="0"/>
            <a:ext cx="5486040" cy="914040"/>
          </a:xfrm>
        </p:spPr>
        <p:txBody>
          <a:bodyPr/>
          <a:lstStyle/>
          <a:p>
            <a:r>
              <a:rPr lang="en-IN" sz="3600" dirty="0"/>
              <a:t>Related Work</a:t>
            </a:r>
            <a:br>
              <a:rPr lang="en-IN" sz="3600" dirty="0"/>
            </a:br>
            <a:endParaRPr lang="en-IN" sz="3600" dirty="0"/>
          </a:p>
        </p:txBody>
      </p:sp>
      <p:sp>
        <p:nvSpPr>
          <p:cNvPr id="9" name="TextBox 8">
            <a:extLst>
              <a:ext uri="{FF2B5EF4-FFF2-40B4-BE49-F238E27FC236}">
                <a16:creationId xmlns:a16="http://schemas.microsoft.com/office/drawing/2014/main" id="{6BDFD186-4007-C396-35A8-6730F84C8762}"/>
              </a:ext>
            </a:extLst>
          </p:cNvPr>
          <p:cNvSpPr txBox="1"/>
          <p:nvPr/>
        </p:nvSpPr>
        <p:spPr>
          <a:xfrm>
            <a:off x="106680" y="1187024"/>
            <a:ext cx="8821010" cy="4801314"/>
          </a:xfrm>
          <a:prstGeom prst="rect">
            <a:avLst/>
          </a:prstGeom>
          <a:noFill/>
        </p:spPr>
        <p:txBody>
          <a:bodyPr wrap="square">
            <a:spAutoFit/>
          </a:bodyPr>
          <a:lstStyle/>
          <a:p>
            <a:pPr marL="285750" indent="-285750" algn="just">
              <a:buFont typeface="Arial" panose="020B0604020202020204" pitchFamily="34" charset="0"/>
              <a:buChar char="•"/>
            </a:pPr>
            <a:r>
              <a:rPr lang="en-US" dirty="0"/>
              <a:t>Several researchers have contributed significantly to ransomware analysis and detection techniques.</a:t>
            </a:r>
          </a:p>
          <a:p>
            <a:pPr marL="285750" indent="-285750" algn="just">
              <a:buFont typeface="Arial" panose="020B0604020202020204" pitchFamily="34" charset="0"/>
              <a:buChar char="•"/>
            </a:pPr>
            <a:r>
              <a:rPr lang="en-US" dirty="0"/>
              <a:t> </a:t>
            </a:r>
            <a:r>
              <a:rPr lang="en-US" dirty="0" err="1"/>
              <a:t>Kharraz</a:t>
            </a:r>
            <a:r>
              <a:rPr lang="en-US" dirty="0"/>
              <a:t> et al. developed the UNVEIL framework to analyze file system activities and distinguish ransomware from legitimate software. </a:t>
            </a:r>
          </a:p>
          <a:p>
            <a:pPr marL="285750" indent="-285750" algn="just">
              <a:buFont typeface="Arial" panose="020B0604020202020204" pitchFamily="34" charset="0"/>
              <a:buChar char="•"/>
            </a:pPr>
            <a:r>
              <a:rPr lang="en-US" dirty="0"/>
              <a:t>Scaife et al. introduced </a:t>
            </a:r>
            <a:r>
              <a:rPr lang="en-US" dirty="0" err="1"/>
              <a:t>CryptoDrop</a:t>
            </a:r>
            <a:r>
              <a:rPr lang="en-US" dirty="0"/>
              <a:t>, an early warning system capable of detecting ransomware attacks before massive file encryption occurs. </a:t>
            </a:r>
          </a:p>
          <a:p>
            <a:pPr marL="285750" indent="-285750" algn="just">
              <a:buFont typeface="Arial" panose="020B0604020202020204" pitchFamily="34" charset="0"/>
              <a:buChar char="•"/>
            </a:pPr>
            <a:r>
              <a:rPr lang="en-US" dirty="0"/>
              <a:t>Huang et al. studied ransomware payment transactions using blockchain analysis and identified patterns in cryptocurrency transfers. </a:t>
            </a:r>
          </a:p>
          <a:p>
            <a:pPr marL="285750" indent="-285750" algn="just">
              <a:buFont typeface="Arial" panose="020B0604020202020204" pitchFamily="34" charset="0"/>
              <a:buChar char="•"/>
            </a:pPr>
            <a:r>
              <a:rPr lang="en-US" dirty="0"/>
              <a:t>Conti et al. analyzed the organizational structure of ransomware groups and showed that modern ransomware gangs operate similarly to legitimate software companies with affiliate programs and internal management systems.</a:t>
            </a:r>
          </a:p>
          <a:p>
            <a:pPr marL="285750" indent="-285750" algn="just">
              <a:buFont typeface="Arial" panose="020B0604020202020204" pitchFamily="34" charset="0"/>
              <a:buChar char="•"/>
            </a:pPr>
            <a:r>
              <a:rPr lang="en-US" dirty="0"/>
              <a:t> Previous research mainly focused on individual ransomware variants and basic detection mechanisms. </a:t>
            </a:r>
          </a:p>
          <a:p>
            <a:pPr marL="285750" indent="-285750" algn="just">
              <a:buFont typeface="Arial" panose="020B0604020202020204" pitchFamily="34" charset="0"/>
              <a:buChar char="•"/>
            </a:pPr>
            <a:r>
              <a:rPr lang="en-US" dirty="0"/>
              <a:t>Our work extends these studies by analyzing modern ransomware trends up to 2025 and proposing a multilayered defense framework combining Zero Trust, AI-based behavioral analysis, and immutable backups.</a:t>
            </a:r>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B2EE-CEEA-A4EC-4F3B-60BA601304FE}"/>
              </a:ext>
            </a:extLst>
          </p:cNvPr>
          <p:cNvSpPr>
            <a:spLocks noGrp="1"/>
          </p:cNvSpPr>
          <p:nvPr>
            <p:ph type="title"/>
          </p:nvPr>
        </p:nvSpPr>
        <p:spPr>
          <a:xfrm>
            <a:off x="213360" y="0"/>
            <a:ext cx="6477000" cy="914040"/>
          </a:xfrm>
        </p:spPr>
        <p:txBody>
          <a:bodyPr/>
          <a:lstStyle/>
          <a:p>
            <a:r>
              <a:rPr lang="en-IN" sz="2800" dirty="0"/>
              <a:t>Dataset and Methodology</a:t>
            </a:r>
            <a:br>
              <a:rPr lang="en-IN" sz="2800" dirty="0"/>
            </a:br>
            <a:endParaRPr lang="en-IN" sz="2800" dirty="0"/>
          </a:p>
        </p:txBody>
      </p:sp>
      <p:sp>
        <p:nvSpPr>
          <p:cNvPr id="3" name="Subtitle 2">
            <a:extLst>
              <a:ext uri="{FF2B5EF4-FFF2-40B4-BE49-F238E27FC236}">
                <a16:creationId xmlns:a16="http://schemas.microsoft.com/office/drawing/2014/main" id="{F8D61AED-C90F-9D76-E62E-61840CAFAF10}"/>
              </a:ext>
            </a:extLst>
          </p:cNvPr>
          <p:cNvSpPr>
            <a:spLocks noGrp="1"/>
          </p:cNvSpPr>
          <p:nvPr>
            <p:ph type="subTitle"/>
          </p:nvPr>
        </p:nvSpPr>
        <p:spPr>
          <a:xfrm>
            <a:off x="106680" y="914040"/>
            <a:ext cx="9037320" cy="5943960"/>
          </a:xfrm>
        </p:spPr>
        <p:txBody>
          <a:bodyPr/>
          <a:lstStyle/>
          <a:p>
            <a:pPr marL="342900" indent="-342900" algn="just">
              <a:buFont typeface="Arial" panose="020B0604020202020204" pitchFamily="34" charset="0"/>
              <a:buChar char="•"/>
            </a:pPr>
            <a:r>
              <a:rPr lang="en-US" sz="2000" dirty="0"/>
              <a:t>The research dataset consisted of 4,712 ransomware incidents collected from multiple reliable sources including </a:t>
            </a:r>
            <a:r>
              <a:rPr lang="en-US" sz="2000" dirty="0" err="1"/>
              <a:t>Coveware</a:t>
            </a:r>
            <a:r>
              <a:rPr lang="en-US" sz="2000" dirty="0"/>
              <a:t> reports, FBI IC3 reports, </a:t>
            </a:r>
            <a:r>
              <a:rPr lang="en-US" sz="2000" dirty="0" err="1"/>
              <a:t>RansomWatch</a:t>
            </a:r>
            <a:r>
              <a:rPr lang="en-US" sz="2000" dirty="0"/>
              <a:t> open-source trackers, CISA vulnerability databases, and contributions from partner organizations.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The collected data included information about ransom amounts, ransomware families, attack vectors, industry sectors, geographic regions, recovery performance, downtime, and data exfiltration behavior.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Incomplete records were removed to ensure data quality, resulting in 3,941 valid cases being analyzed.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Ransom values were normalized into US dollars adjusted for 2024 inflation. The methodology involved statistical analysis of attack patterns, trend analysis across different industries, evaluation of ransomware payment behavior, and examination of attack propagation techniques.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study also included simulation-based testing of the proposed Ransomware Resilience Framework in a controlled environment.</a:t>
            </a:r>
          </a:p>
          <a:p>
            <a:pPr marL="342900" indent="-342900" algn="just">
              <a:buFont typeface="Arial" panose="020B0604020202020204" pitchFamily="34" charset="0"/>
              <a:buChar char="•"/>
            </a:pPr>
            <a:endParaRPr lang="en-US" sz="2000" dirty="0"/>
          </a:p>
        </p:txBody>
      </p:sp>
    </p:spTree>
    <p:extLst>
      <p:ext uri="{BB962C8B-B14F-4D97-AF65-F5344CB8AC3E}">
        <p14:creationId xmlns:p14="http://schemas.microsoft.com/office/powerpoint/2010/main" val="688233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DD502-8483-AAEA-634F-8F43DDF14C74}"/>
              </a:ext>
            </a:extLst>
          </p:cNvPr>
          <p:cNvSpPr>
            <a:spLocks noGrp="1"/>
          </p:cNvSpPr>
          <p:nvPr>
            <p:ph type="title"/>
          </p:nvPr>
        </p:nvSpPr>
        <p:spPr>
          <a:xfrm>
            <a:off x="275303" y="462116"/>
            <a:ext cx="6046839" cy="451924"/>
          </a:xfrm>
        </p:spPr>
        <p:txBody>
          <a:bodyPr/>
          <a:lstStyle/>
          <a:p>
            <a:r>
              <a:rPr lang="en-US" sz="3600" dirty="0"/>
              <a:t>Attack Vectors and Technical Mechanisms</a:t>
            </a:r>
            <a:br>
              <a:rPr lang="en-US" sz="3600" dirty="0"/>
            </a:br>
            <a:endParaRPr lang="en-IN" sz="3600" dirty="0"/>
          </a:p>
        </p:txBody>
      </p:sp>
      <p:sp>
        <p:nvSpPr>
          <p:cNvPr id="3" name="Subtitle 2">
            <a:extLst>
              <a:ext uri="{FF2B5EF4-FFF2-40B4-BE49-F238E27FC236}">
                <a16:creationId xmlns:a16="http://schemas.microsoft.com/office/drawing/2014/main" id="{69BA8853-0070-D25A-143C-C992014E7242}"/>
              </a:ext>
            </a:extLst>
          </p:cNvPr>
          <p:cNvSpPr>
            <a:spLocks noGrp="1"/>
          </p:cNvSpPr>
          <p:nvPr>
            <p:ph type="subTitle"/>
          </p:nvPr>
        </p:nvSpPr>
        <p:spPr>
          <a:xfrm>
            <a:off x="137160" y="1722120"/>
            <a:ext cx="8859356" cy="4831080"/>
          </a:xfrm>
        </p:spPr>
        <p:txBody>
          <a:bodyPr/>
          <a:lstStyle/>
          <a:p>
            <a:pPr marL="342900" indent="-342900" algn="just">
              <a:buFont typeface="Arial" panose="020B0604020202020204" pitchFamily="34" charset="0"/>
              <a:buChar char="•"/>
            </a:pPr>
            <a:r>
              <a:rPr lang="en-US" sz="2000" dirty="0"/>
              <a:t>The study identified phishing as the most common ransomware attack vector, accounting for approximately 41 percent of all attacks.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Attackers commonly use malicious email attachments, fake login pages, and social engineering techniques to gain initial access.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Other major attack vectors include exploitation of unpatched vulnerabilities, Remote Desktop Protocol compromise, and supply chain attacks.</a:t>
            </a:r>
          </a:p>
          <a:p>
            <a:pPr marL="342900" indent="-342900" algn="just">
              <a:buFont typeface="Arial" panose="020B0604020202020204" pitchFamily="34" charset="0"/>
              <a:buChar char="•"/>
            </a:pPr>
            <a:r>
              <a:rPr lang="en-US" sz="2000" dirty="0"/>
              <a:t> </a:t>
            </a:r>
          </a:p>
          <a:p>
            <a:pPr marL="342900" indent="-342900" algn="just">
              <a:buFont typeface="Arial" panose="020B0604020202020204" pitchFamily="34" charset="0"/>
              <a:buChar char="•"/>
            </a:pPr>
            <a:r>
              <a:rPr lang="en-US" sz="2000" dirty="0"/>
              <a:t>Modern ransomware uses hybrid encryption techniques combining AES-256 or ChaCha20 symmetric encryption with RSA asymmetric encryption for secure key exchange.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Advanced ransomware groups such as </a:t>
            </a:r>
            <a:r>
              <a:rPr lang="en-US" sz="2000" dirty="0" err="1"/>
              <a:t>LockBit</a:t>
            </a:r>
            <a:r>
              <a:rPr lang="en-US" sz="2000" dirty="0"/>
              <a:t> 3.0 also use partial encryption methods to increase attack speed and evade detection.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The paper additionally discusses double extortion and triple extortion models where attackers steal sensitive data before encryption and threaten to leak information publicly if ransom is not paid.</a:t>
            </a:r>
          </a:p>
          <a:p>
            <a:pPr marL="342900" indent="-342900" algn="just">
              <a:buFont typeface="Arial" panose="020B0604020202020204" pitchFamily="34" charset="0"/>
              <a:buChar char="•"/>
            </a:pPr>
            <a:endParaRPr lang="en-US" sz="2000" dirty="0"/>
          </a:p>
          <a:p>
            <a:pPr algn="just"/>
            <a:endParaRPr lang="en-IN" sz="2000" dirty="0"/>
          </a:p>
        </p:txBody>
      </p:sp>
    </p:spTree>
    <p:extLst>
      <p:ext uri="{BB962C8B-B14F-4D97-AF65-F5344CB8AC3E}">
        <p14:creationId xmlns:p14="http://schemas.microsoft.com/office/powerpoint/2010/main" val="2015416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874A2-FDD0-135F-2E70-072CCEDB0456}"/>
              </a:ext>
            </a:extLst>
          </p:cNvPr>
          <p:cNvSpPr>
            <a:spLocks noGrp="1"/>
          </p:cNvSpPr>
          <p:nvPr>
            <p:ph type="title"/>
          </p:nvPr>
        </p:nvSpPr>
        <p:spPr>
          <a:xfrm>
            <a:off x="-1" y="295950"/>
            <a:ext cx="6518787" cy="618089"/>
          </a:xfrm>
        </p:spPr>
        <p:txBody>
          <a:bodyPr/>
          <a:lstStyle/>
          <a:p>
            <a:r>
              <a:rPr lang="en-IN" sz="3200" dirty="0"/>
              <a:t>Prevention and Detection Technologies</a:t>
            </a:r>
            <a:br>
              <a:rPr lang="en-IN" sz="3200" dirty="0"/>
            </a:br>
            <a:endParaRPr lang="en-IN" sz="3200" dirty="0"/>
          </a:p>
        </p:txBody>
      </p:sp>
      <p:sp>
        <p:nvSpPr>
          <p:cNvPr id="3" name="Subtitle 2">
            <a:extLst>
              <a:ext uri="{FF2B5EF4-FFF2-40B4-BE49-F238E27FC236}">
                <a16:creationId xmlns:a16="http://schemas.microsoft.com/office/drawing/2014/main" id="{D956AAB9-9C69-FE1F-5179-97786EFB914A}"/>
              </a:ext>
            </a:extLst>
          </p:cNvPr>
          <p:cNvSpPr>
            <a:spLocks noGrp="1"/>
          </p:cNvSpPr>
          <p:nvPr>
            <p:ph type="subTitle"/>
          </p:nvPr>
        </p:nvSpPr>
        <p:spPr>
          <a:xfrm>
            <a:off x="205985" y="1227689"/>
            <a:ext cx="8839691" cy="5334360"/>
          </a:xfrm>
        </p:spPr>
        <p:txBody>
          <a:bodyPr/>
          <a:lstStyle/>
          <a:p>
            <a:pPr marL="342900" indent="-342900" algn="just">
              <a:buFont typeface="Arial" panose="020B0604020202020204" pitchFamily="34" charset="0"/>
              <a:buChar char="•"/>
            </a:pPr>
            <a:r>
              <a:rPr lang="en-US" sz="2000" dirty="0"/>
              <a:t>The research evaluates several ransomware prevention and detection technologies including Endpoint Detection and Response systems, AI-based anomaly detection, network-level monitoring, and backup recovery solutions.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EDR systems monitor behavioral indicators such as mass file modifications, shadow copy deletion commands, registry modifications, and suspicious network communications.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AI-based detection systems using machine learning algorithms such as Gradient Boosting, LSTM sequence models, and Graph Neural Networks can identify unknown ransomware variants with very high accuracy.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Network-level detection methods monitor unusual DNS requests, lateral movement activity, and abnormal outbound traffic patterns associated with data exfiltration.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study also highlights the importance of the 3-2-1-1-0 backup strategy and immutable cloud storage systems to ensure rapid recovery after ransomware incidents.</a:t>
            </a:r>
          </a:p>
          <a:p>
            <a:pPr marL="342900" indent="-342900" algn="just">
              <a:buFont typeface="Arial" panose="020B0604020202020204" pitchFamily="34" charset="0"/>
              <a:buChar char="•"/>
            </a:pPr>
            <a:endParaRPr lang="en-IN" sz="2000" dirty="0"/>
          </a:p>
        </p:txBody>
      </p:sp>
    </p:spTree>
    <p:extLst>
      <p:ext uri="{BB962C8B-B14F-4D97-AF65-F5344CB8AC3E}">
        <p14:creationId xmlns:p14="http://schemas.microsoft.com/office/powerpoint/2010/main" val="3073796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10" name="Title 9">
            <a:extLst>
              <a:ext uri="{FF2B5EF4-FFF2-40B4-BE49-F238E27FC236}">
                <a16:creationId xmlns:a16="http://schemas.microsoft.com/office/drawing/2014/main" id="{73082D6D-3C64-94B1-A9B8-00BAD1CA2B84}"/>
              </a:ext>
            </a:extLst>
          </p:cNvPr>
          <p:cNvSpPr>
            <a:spLocks noGrp="1"/>
          </p:cNvSpPr>
          <p:nvPr>
            <p:ph type="title"/>
          </p:nvPr>
        </p:nvSpPr>
        <p:spPr>
          <a:xfrm>
            <a:off x="-1" y="432618"/>
            <a:ext cx="6420465" cy="481421"/>
          </a:xfrm>
        </p:spPr>
        <p:txBody>
          <a:bodyPr/>
          <a:lstStyle/>
          <a:p>
            <a:pPr algn="ctr"/>
            <a:r>
              <a:rPr lang="en-IN" sz="3600" dirty="0"/>
              <a:t>Ransomware Resilience Framework (RRF)</a:t>
            </a:r>
            <a:br>
              <a:rPr lang="en-IN" sz="3600" dirty="0"/>
            </a:br>
            <a:endParaRPr lang="en-IN" sz="3600" dirty="0"/>
          </a:p>
        </p:txBody>
      </p:sp>
      <p:sp>
        <p:nvSpPr>
          <p:cNvPr id="11" name="Text Placeholder 10">
            <a:extLst>
              <a:ext uri="{FF2B5EF4-FFF2-40B4-BE49-F238E27FC236}">
                <a16:creationId xmlns:a16="http://schemas.microsoft.com/office/drawing/2014/main" id="{0AD35691-B0B3-49E0-2DD9-B7660921B74A}"/>
              </a:ext>
            </a:extLst>
          </p:cNvPr>
          <p:cNvSpPr>
            <a:spLocks noGrp="1"/>
          </p:cNvSpPr>
          <p:nvPr>
            <p:ph type="body"/>
          </p:nvPr>
        </p:nvSpPr>
        <p:spPr>
          <a:xfrm>
            <a:off x="175260" y="1338960"/>
            <a:ext cx="8793480" cy="5519040"/>
          </a:xfrm>
        </p:spPr>
        <p:txBody>
          <a:bodyPr>
            <a:normAutofit fontScale="47500" lnSpcReduction="20000"/>
          </a:bodyPr>
          <a:lstStyle/>
          <a:p>
            <a:pPr marL="571500" indent="-571500">
              <a:buFont typeface="Arial" panose="020B0604020202020204" pitchFamily="34" charset="0"/>
              <a:buChar char="•"/>
            </a:pPr>
            <a:r>
              <a:rPr lang="en-US" dirty="0"/>
              <a:t>The Ransomware Resilience Framework is the major contribution of this research paper. </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It is a multilayered cybersecurity architecture designed to protect organizations against ransomware attacks at every stage of the attack lifecycle. </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The framework consists of seven layers including Perimeter Hardening, Identity and Access Management, Endpoint Protection, Network Segmentation, Data Protection, Backup and Recovery, and Incident Response.</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 The framework integrates Zero Trust principles, continuous authentication, AI-driven behavioral analysis, and immutable backups to reduce ransomware propagation and recovery time.</a:t>
            </a:r>
          </a:p>
          <a:p>
            <a:r>
              <a:rPr lang="en-US" dirty="0"/>
              <a:t> </a:t>
            </a:r>
          </a:p>
          <a:p>
            <a:pPr marL="571500" indent="-571500">
              <a:buFont typeface="Arial" panose="020B0604020202020204" pitchFamily="34" charset="0"/>
              <a:buChar char="•"/>
            </a:pPr>
            <a:r>
              <a:rPr lang="en-US" dirty="0"/>
              <a:t>The Identity and Access layer uses Privileged Access Management and Just-in-Time access control to reduce credential misuse. </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The AI detection engine combines signals from endpoint monitoring and network monitoring into a centralized security data lake for rapid threat detection and response.</a:t>
            </a:r>
          </a:p>
          <a:p>
            <a:pPr marL="571500" indent="-571500">
              <a:buFont typeface="Arial" panose="020B0604020202020204" pitchFamily="34" charset="0"/>
              <a:buChar char="•"/>
            </a:pPr>
            <a:endParaRPr lang="en-IN" dirty="0"/>
          </a:p>
        </p:txBody>
      </p:sp>
    </p:spTree>
    <p:extLst>
      <p:ext uri="{BB962C8B-B14F-4D97-AF65-F5344CB8AC3E}">
        <p14:creationId xmlns:p14="http://schemas.microsoft.com/office/powerpoint/2010/main" val="2834479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9A1B8-DD61-F551-BB38-0ECB46EBA89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B33E2E7-444B-5D4E-BBD3-2ABC5CB30534}"/>
              </a:ext>
            </a:extLst>
          </p:cNvPr>
          <p:cNvSpPr txBox="1"/>
          <p:nvPr/>
        </p:nvSpPr>
        <p:spPr>
          <a:xfrm>
            <a:off x="98323" y="914400"/>
            <a:ext cx="8967019" cy="5633884"/>
          </a:xfrm>
          <a:prstGeom prst="rect">
            <a:avLst/>
          </a:prstGeom>
          <a:noFill/>
          <a:ln w="9360">
            <a:noFill/>
          </a:ln>
        </p:spPr>
        <p:txBody>
          <a:bodyPr anchor="ctr">
            <a:noAutofit/>
          </a:bodyPr>
          <a:lstStyle/>
          <a:p>
            <a:pPr marL="285750" indent="-285750" algn="ctr">
              <a:buFont typeface="Arial" panose="020B0604020202020204" pitchFamily="34" charset="0"/>
              <a:buChar char="•"/>
            </a:pPr>
            <a:r>
              <a:rPr lang="en-US" dirty="0"/>
              <a:t>The proposed Ransomware Resilience Framework was evaluated in a simulated hybrid environment containing 500 virtual endpoints and 12 business units.</a:t>
            </a:r>
          </a:p>
          <a:p>
            <a:pPr algn="ctr"/>
            <a:r>
              <a:rPr lang="en-US" dirty="0"/>
              <a:t> </a:t>
            </a:r>
          </a:p>
          <a:p>
            <a:pPr marL="285750" indent="-285750" algn="ctr">
              <a:buFont typeface="Arial" panose="020B0604020202020204" pitchFamily="34" charset="0"/>
              <a:buChar char="•"/>
            </a:pPr>
            <a:r>
              <a:rPr lang="en-US" dirty="0"/>
              <a:t>The framework was tested against 47 different ransomware families under three conditions including no protection, partial RRF deployment, and full RRF deployment.</a:t>
            </a:r>
          </a:p>
          <a:p>
            <a:pPr marL="285750" indent="-285750" algn="ctr">
              <a:buFont typeface="Arial" panose="020B0604020202020204" pitchFamily="34" charset="0"/>
              <a:buChar char="•"/>
            </a:pPr>
            <a:endParaRPr lang="en-US" dirty="0"/>
          </a:p>
          <a:p>
            <a:pPr marL="285750" indent="-285750" algn="ctr">
              <a:buFont typeface="Arial" panose="020B0604020202020204" pitchFamily="34" charset="0"/>
              <a:buChar char="•"/>
            </a:pPr>
            <a:r>
              <a:rPr lang="en-US" dirty="0"/>
              <a:t>     Without protection, all ransomware attacks successfully encrypted business-critical systems. Partial deployment reduced attack success rates significantly, but lateral movement still occurred.</a:t>
            </a:r>
          </a:p>
          <a:p>
            <a:pPr marL="285750" indent="-285750" algn="ctr">
              <a:buFont typeface="Arial" panose="020B0604020202020204" pitchFamily="34" charset="0"/>
              <a:buChar char="•"/>
            </a:pPr>
            <a:endParaRPr lang="en-US" dirty="0"/>
          </a:p>
          <a:p>
            <a:pPr marL="285750" indent="-285750" algn="ctr">
              <a:buFont typeface="Arial" panose="020B0604020202020204" pitchFamily="34" charset="0"/>
              <a:buChar char="•"/>
            </a:pPr>
            <a:r>
              <a:rPr lang="en-US" dirty="0"/>
              <a:t>  The full RRF implementation reduced successful ransomware encryption incidents by 94 percent. </a:t>
            </a:r>
          </a:p>
          <a:p>
            <a:pPr marL="285750" indent="-285750" algn="ctr">
              <a:buFont typeface="Arial" panose="020B0604020202020204" pitchFamily="34" charset="0"/>
              <a:buChar char="•"/>
            </a:pPr>
            <a:endParaRPr lang="en-US" dirty="0"/>
          </a:p>
          <a:p>
            <a:pPr marL="285750" indent="-285750" algn="ctr">
              <a:buFont typeface="Arial" panose="020B0604020202020204" pitchFamily="34" charset="0"/>
              <a:buChar char="•"/>
            </a:pPr>
            <a:r>
              <a:rPr lang="en-US" dirty="0"/>
              <a:t>The Mean Time To Detect improved from 4.2 hours to only 43 seconds, while Mean Time To Contain improved from 18.4 hours to 1.7 hours.</a:t>
            </a:r>
          </a:p>
          <a:p>
            <a:pPr marL="285750" indent="-285750" algn="ctr">
              <a:buFont typeface="Arial" panose="020B0604020202020204" pitchFamily="34" charset="0"/>
              <a:buChar char="•"/>
            </a:pPr>
            <a:endParaRPr lang="en-US" dirty="0"/>
          </a:p>
          <a:p>
            <a:pPr marL="285750" indent="-285750" algn="ctr">
              <a:buFont typeface="Arial" panose="020B0604020202020204" pitchFamily="34" charset="0"/>
              <a:buChar char="•"/>
            </a:pPr>
            <a:r>
              <a:rPr lang="en-US" dirty="0"/>
              <a:t> A healthcare case study involving a 1,200-bed hospital demonstrated that the framework successfully prevented multiple ransomware intrusion attempts with zero patient data encrypted.</a:t>
            </a:r>
          </a:p>
          <a:p>
            <a:pPr marL="685800" indent="-685800" algn="ctr">
              <a:lnSpc>
                <a:spcPct val="100000"/>
              </a:lnSpc>
              <a:buFont typeface="Arial" panose="020B0604020202020204" pitchFamily="34" charset="0"/>
              <a:buChar char="•"/>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DC4E474E-8EFC-D562-90F3-761EF7207D6F}"/>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2" name="TextBox 1">
            <a:extLst>
              <a:ext uri="{FF2B5EF4-FFF2-40B4-BE49-F238E27FC236}">
                <a16:creationId xmlns:a16="http://schemas.microsoft.com/office/drawing/2014/main" id="{8E6D7BC4-F0DB-9B69-CD5E-B921CFD3381B}"/>
              </a:ext>
            </a:extLst>
          </p:cNvPr>
          <p:cNvSpPr txBox="1"/>
          <p:nvPr/>
        </p:nvSpPr>
        <p:spPr>
          <a:xfrm>
            <a:off x="285137" y="127819"/>
            <a:ext cx="6105832" cy="1015663"/>
          </a:xfrm>
          <a:prstGeom prst="rect">
            <a:avLst/>
          </a:prstGeom>
          <a:noFill/>
        </p:spPr>
        <p:txBody>
          <a:bodyPr wrap="square" rtlCol="0">
            <a:spAutoFit/>
          </a:bodyPr>
          <a:lstStyle/>
          <a:p>
            <a:r>
              <a:rPr lang="en-IN" sz="3600" dirty="0"/>
              <a:t>Results and Case Study</a:t>
            </a:r>
          </a:p>
          <a:p>
            <a:endParaRPr lang="en-IN" sz="2400" dirty="0"/>
          </a:p>
        </p:txBody>
      </p:sp>
    </p:spTree>
    <p:extLst>
      <p:ext uri="{BB962C8B-B14F-4D97-AF65-F5344CB8AC3E}">
        <p14:creationId xmlns:p14="http://schemas.microsoft.com/office/powerpoint/2010/main" val="3664696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F0568-6064-06A3-4BA7-FB01E5F4C1A6}"/>
              </a:ext>
            </a:extLst>
          </p:cNvPr>
          <p:cNvSpPr>
            <a:spLocks noGrp="1"/>
          </p:cNvSpPr>
          <p:nvPr>
            <p:ph type="title"/>
          </p:nvPr>
        </p:nvSpPr>
        <p:spPr>
          <a:xfrm>
            <a:off x="0" y="216310"/>
            <a:ext cx="5486040" cy="697730"/>
          </a:xfrm>
        </p:spPr>
        <p:txBody>
          <a:bodyPr/>
          <a:lstStyle/>
          <a:p>
            <a:r>
              <a:rPr lang="en-IN" dirty="0"/>
              <a:t>Future Scope</a:t>
            </a:r>
            <a:br>
              <a:rPr lang="en-IN" dirty="0"/>
            </a:br>
            <a:endParaRPr lang="en-IN" dirty="0"/>
          </a:p>
        </p:txBody>
      </p:sp>
      <p:sp>
        <p:nvSpPr>
          <p:cNvPr id="3" name="Subtitle 2">
            <a:extLst>
              <a:ext uri="{FF2B5EF4-FFF2-40B4-BE49-F238E27FC236}">
                <a16:creationId xmlns:a16="http://schemas.microsoft.com/office/drawing/2014/main" id="{0EB74ECB-3D5E-457D-A7AE-3776FC7EE842}"/>
              </a:ext>
            </a:extLst>
          </p:cNvPr>
          <p:cNvSpPr>
            <a:spLocks noGrp="1"/>
          </p:cNvSpPr>
          <p:nvPr>
            <p:ph type="subTitle"/>
          </p:nvPr>
        </p:nvSpPr>
        <p:spPr>
          <a:xfrm>
            <a:off x="0" y="0"/>
            <a:ext cx="9055510" cy="914040"/>
          </a:xfrm>
        </p:spPr>
        <p:txBody>
          <a:bodyPr/>
          <a:lstStyle/>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pPr marL="285750" indent="-285750">
              <a:buFont typeface="Arial" panose="020B0604020202020204" pitchFamily="34" charset="0"/>
              <a:buChar char="•"/>
            </a:pPr>
            <a:r>
              <a:rPr lang="en-US" sz="1800" dirty="0"/>
              <a:t>The research paper identifies several important future research directions for improving ransomware defense systems.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One major area is evaluating the effectiveness of AI-based detection models against advanced ransomware evasion techniques and polymorphic malware.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Another future direction involves extending the Ransomware Resilience Framework to Operational Technology and Industrial Control System environments, which are increasingly targeted by ransomware groups.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Federated threat intelligence systems can also be developed to allow organizations to collaboratively train machine learning models without sharing sensitive data directly.</a:t>
            </a:r>
          </a:p>
          <a:p>
            <a:r>
              <a:rPr lang="en-US" sz="1800" dirty="0"/>
              <a:t> </a:t>
            </a:r>
          </a:p>
          <a:p>
            <a:pPr marL="285750" indent="-285750">
              <a:buFont typeface="Arial" panose="020B0604020202020204" pitchFamily="34" charset="0"/>
              <a:buChar char="•"/>
            </a:pPr>
            <a:r>
              <a:rPr lang="en-US" sz="1800" dirty="0"/>
              <a:t>The study also suggests further research into international cryptocurrency tracing mechanisms, legal frameworks for ransomware payment regulation, and automated incident response systems.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Continuous improvement in backup technologies, behavioral analysis, and Zero Trust implementation will remain essential due to the rapidly evolving ransomware landscape.</a:t>
            </a:r>
          </a:p>
          <a:p>
            <a:endParaRPr lang="en-IN" sz="1800" dirty="0"/>
          </a:p>
        </p:txBody>
      </p:sp>
    </p:spTree>
    <p:extLst>
      <p:ext uri="{BB962C8B-B14F-4D97-AF65-F5344CB8AC3E}">
        <p14:creationId xmlns:p14="http://schemas.microsoft.com/office/powerpoint/2010/main" val="1040292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4090A-A06E-E1EB-554D-0A022D358220}"/>
              </a:ext>
            </a:extLst>
          </p:cNvPr>
          <p:cNvSpPr>
            <a:spLocks noGrp="1"/>
          </p:cNvSpPr>
          <p:nvPr>
            <p:ph type="title"/>
          </p:nvPr>
        </p:nvSpPr>
        <p:spPr>
          <a:xfrm>
            <a:off x="0" y="186812"/>
            <a:ext cx="5486040" cy="727227"/>
          </a:xfrm>
        </p:spPr>
        <p:txBody>
          <a:bodyPr/>
          <a:lstStyle/>
          <a:p>
            <a:r>
              <a:rPr lang="en-IN" dirty="0"/>
              <a:t>Conclusion</a:t>
            </a:r>
            <a:br>
              <a:rPr lang="en-IN" dirty="0"/>
            </a:br>
            <a:endParaRPr lang="en-IN" dirty="0"/>
          </a:p>
        </p:txBody>
      </p:sp>
      <p:sp>
        <p:nvSpPr>
          <p:cNvPr id="3" name="Subtitle 2">
            <a:extLst>
              <a:ext uri="{FF2B5EF4-FFF2-40B4-BE49-F238E27FC236}">
                <a16:creationId xmlns:a16="http://schemas.microsoft.com/office/drawing/2014/main" id="{6ED314D9-5E56-33F9-A543-AAAA068D1FA1}"/>
              </a:ext>
            </a:extLst>
          </p:cNvPr>
          <p:cNvSpPr>
            <a:spLocks noGrp="1"/>
          </p:cNvSpPr>
          <p:nvPr>
            <p:ph type="subTitle"/>
          </p:nvPr>
        </p:nvSpPr>
        <p:spPr>
          <a:xfrm>
            <a:off x="0" y="0"/>
            <a:ext cx="9144000" cy="914040"/>
          </a:xfrm>
        </p:spPr>
        <p:txBody>
          <a:bodyPr/>
          <a:lstStyle/>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pPr marL="285750" indent="-285750">
              <a:buFont typeface="Arial" panose="020B0604020202020204" pitchFamily="34" charset="0"/>
              <a:buChar char="•"/>
            </a:pPr>
            <a:r>
              <a:rPr lang="en-US" sz="1800" dirty="0"/>
              <a:t>This research paper concludes that ransomware has evolved into one of the most dangerous and expensive cybercrime threats worldwide.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growth of Ransomware-as-a-Service platforms, double extortion techniques, and cryptocurrency-based payments has significantly increased the scale and complexity of ransomware attacks.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Traditional security mechanisms alone are no longer sufficient to defend against modern ransomware groups.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proposed Ransomware Resilience Framework demonstrates that a layered defense strategy combining Zero Trust Architecture, AI-driven anomaly detection, network segmentation, immutable backups, and rapid incident response can dramatically reduce ransomware impact and recovery time.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experimental results and healthcare case study confirm the effectiveness of the framework in detecting and containing attacks quickly.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research provides valuable guidance for cybersecurity professionals, organizations, and future researchers working to improve ransomware resilience and cyber defense strategies.</a:t>
            </a:r>
          </a:p>
          <a:p>
            <a:endParaRPr lang="en-IN" sz="1800" dirty="0"/>
          </a:p>
        </p:txBody>
      </p:sp>
    </p:spTree>
    <p:extLst>
      <p:ext uri="{BB962C8B-B14F-4D97-AF65-F5344CB8AC3E}">
        <p14:creationId xmlns:p14="http://schemas.microsoft.com/office/powerpoint/2010/main" val="1587871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ADEFA-6BB1-1691-50C6-DE415919668E}"/>
              </a:ext>
            </a:extLst>
          </p:cNvPr>
          <p:cNvSpPr>
            <a:spLocks noGrp="1"/>
          </p:cNvSpPr>
          <p:nvPr>
            <p:ph type="title"/>
          </p:nvPr>
        </p:nvSpPr>
        <p:spPr>
          <a:xfrm>
            <a:off x="0" y="157316"/>
            <a:ext cx="5486040" cy="756724"/>
          </a:xfrm>
        </p:spPr>
        <p:txBody>
          <a:bodyPr/>
          <a:lstStyle/>
          <a:p>
            <a:r>
              <a:rPr lang="en-IN" dirty="0"/>
              <a:t>References</a:t>
            </a:r>
            <a:br>
              <a:rPr lang="en-IN" dirty="0"/>
            </a:br>
            <a:endParaRPr lang="en-IN" dirty="0"/>
          </a:p>
        </p:txBody>
      </p:sp>
      <p:sp>
        <p:nvSpPr>
          <p:cNvPr id="3" name="Subtitle 2">
            <a:extLst>
              <a:ext uri="{FF2B5EF4-FFF2-40B4-BE49-F238E27FC236}">
                <a16:creationId xmlns:a16="http://schemas.microsoft.com/office/drawing/2014/main" id="{57912D1A-4D2A-9E1E-0C93-1EF55BED32A0}"/>
              </a:ext>
            </a:extLst>
          </p:cNvPr>
          <p:cNvSpPr>
            <a:spLocks noGrp="1"/>
          </p:cNvSpPr>
          <p:nvPr>
            <p:ph type="subTitle"/>
          </p:nvPr>
        </p:nvSpPr>
        <p:spPr>
          <a:xfrm>
            <a:off x="0" y="0"/>
            <a:ext cx="9144000" cy="914040"/>
          </a:xfrm>
        </p:spPr>
        <p:txBody>
          <a:bodyPr/>
          <a:lstStyle/>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[1] </a:t>
            </a:r>
            <a:r>
              <a:rPr lang="en-IN" sz="1800" dirty="0" err="1"/>
              <a:t>Kharraz</a:t>
            </a:r>
            <a:r>
              <a:rPr lang="en-IN" sz="1800" dirty="0"/>
              <a:t> et al., UNVEIL: A Large-Scale Automated Approach to Detecting Ransomware, USENIX Security Symposium, 2016.</a:t>
            </a:r>
          </a:p>
          <a:p>
            <a:pPr marL="0" indent="0">
              <a:buNone/>
            </a:pPr>
            <a:br>
              <a:rPr lang="en-IN" sz="1800" dirty="0"/>
            </a:br>
            <a:r>
              <a:rPr lang="en-IN" sz="1800" dirty="0"/>
              <a:t>[2] Scaife et al., </a:t>
            </a:r>
            <a:r>
              <a:rPr lang="en-IN" sz="1800" dirty="0" err="1"/>
              <a:t>CryptoDrop</a:t>
            </a:r>
            <a:r>
              <a:rPr lang="en-IN" sz="1800" dirty="0"/>
              <a:t>: Detecting Ransomware Using File System Activity, IEEE ICDCS, 2016.</a:t>
            </a:r>
            <a:br>
              <a:rPr lang="en-IN" sz="1800" dirty="0"/>
            </a:br>
            <a:br>
              <a:rPr lang="en-IN" sz="1800" dirty="0"/>
            </a:br>
            <a:r>
              <a:rPr lang="en-IN" sz="1800" dirty="0"/>
              <a:t>[3] Huang et al., Tracking Ransomware End-to-End, IEEE Symposium on Security and Privacy, 2018.</a:t>
            </a:r>
            <a:br>
              <a:rPr lang="en-IN" sz="1800" dirty="0"/>
            </a:br>
            <a:br>
              <a:rPr lang="en-IN" sz="1800" dirty="0"/>
            </a:br>
            <a:r>
              <a:rPr lang="en-IN" sz="1800" dirty="0"/>
              <a:t>[4] Conti et al., Inside the Conti Leaks: Structure and Operations of Modern Ransomware Groups, IEEE Security &amp; Privacy, 2022.</a:t>
            </a:r>
            <a:br>
              <a:rPr lang="en-IN" sz="1800" dirty="0"/>
            </a:br>
            <a:br>
              <a:rPr lang="en-IN" sz="1800" dirty="0"/>
            </a:br>
            <a:r>
              <a:rPr lang="en-IN" sz="1800" dirty="0"/>
              <a:t>[5] Chen et al., Gradient-Boosted Ransomware Detection via System Call Sequences, IEEE Transactions on Information Forensics and Security, 2023.</a:t>
            </a:r>
          </a:p>
          <a:p>
            <a:pPr marL="0" indent="0">
              <a:buNone/>
            </a:pPr>
            <a:endParaRPr lang="en-IN" sz="1800" dirty="0"/>
          </a:p>
          <a:p>
            <a:r>
              <a:rPr lang="en-IN" sz="1800" dirty="0"/>
              <a:t>[6] Y. Chen et al., “Gradient-Boosted Ransomware Detection,” </a:t>
            </a:r>
            <a:r>
              <a:rPr lang="en-IN" sz="1800" i="1" dirty="0"/>
              <a:t>IEEE Transactions on Information Forensics and Security</a:t>
            </a:r>
            <a:r>
              <a:rPr lang="en-IN" sz="1800" dirty="0"/>
              <a:t>, 2023.</a:t>
            </a:r>
          </a:p>
          <a:p>
            <a:endParaRPr lang="en-IN" sz="1800" dirty="0"/>
          </a:p>
          <a:p>
            <a:r>
              <a:rPr lang="en-IN" sz="1800" dirty="0"/>
              <a:t>[7] CISA, “</a:t>
            </a:r>
            <a:r>
              <a:rPr lang="en-IN" sz="1800" dirty="0" err="1"/>
              <a:t>StopRansomware</a:t>
            </a:r>
            <a:r>
              <a:rPr lang="en-IN" sz="1800" dirty="0"/>
              <a:t> Guide,” 2023.</a:t>
            </a:r>
          </a:p>
          <a:p>
            <a:endParaRPr lang="en-IN" sz="1800" dirty="0"/>
          </a:p>
          <a:p>
            <a:r>
              <a:rPr lang="en-IN" sz="1800" dirty="0"/>
              <a:t>[8] </a:t>
            </a:r>
            <a:r>
              <a:rPr lang="en-IN" sz="1800" dirty="0" err="1"/>
              <a:t>Coveware</a:t>
            </a:r>
            <a:r>
              <a:rPr lang="en-IN" sz="1800" dirty="0"/>
              <a:t> Inc., “Ransomware Marketplace Report Q4 2024,” 2025.</a:t>
            </a:r>
          </a:p>
          <a:p>
            <a:endParaRPr lang="en-IN" sz="1800" dirty="0"/>
          </a:p>
          <a:p>
            <a:r>
              <a:rPr lang="en-IN" sz="1800" dirty="0"/>
              <a:t>[9] FBI IC3, “Internet Crime Report 2024,” 2025.</a:t>
            </a:r>
          </a:p>
          <a:p>
            <a:endParaRPr lang="en-IN" sz="1800" dirty="0"/>
          </a:p>
          <a:p>
            <a:endParaRPr lang="en-IN" sz="1800" dirty="0"/>
          </a:p>
          <a:p>
            <a:endParaRPr lang="en-IN" sz="1800" dirty="0"/>
          </a:p>
          <a:p>
            <a:endParaRPr lang="en-IN" sz="1800" dirty="0"/>
          </a:p>
          <a:p>
            <a:pPr marL="0" indent="0">
              <a:buNone/>
            </a:pPr>
            <a:endParaRPr lang="en-IN" sz="1800" dirty="0"/>
          </a:p>
          <a:p>
            <a:pPr marL="0" indent="0">
              <a:buNone/>
            </a:pPr>
            <a:endParaRPr lang="en-IN" sz="1800" dirty="0"/>
          </a:p>
          <a:p>
            <a:endParaRPr lang="en-IN" dirty="0"/>
          </a:p>
        </p:txBody>
      </p:sp>
    </p:spTree>
    <p:extLst>
      <p:ext uri="{BB962C8B-B14F-4D97-AF65-F5344CB8AC3E}">
        <p14:creationId xmlns:p14="http://schemas.microsoft.com/office/powerpoint/2010/main" val="313760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34816</TotalTime>
  <Words>1544</Words>
  <Application>Microsoft Office PowerPoint</Application>
  <PresentationFormat>On-screen Show (4:3)</PresentationFormat>
  <Paragraphs>227</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Related Work </vt:lpstr>
      <vt:lpstr>Dataset and Methodology </vt:lpstr>
      <vt:lpstr>Attack Vectors and Technical Mechanisms </vt:lpstr>
      <vt:lpstr>Prevention and Detection Technologies </vt:lpstr>
      <vt:lpstr>Ransomware Resilience Framework (RRF) </vt:lpstr>
      <vt:lpstr>PowerPoint Presentation</vt:lpstr>
      <vt:lpstr>Future Scope </vt:lpstr>
      <vt:lpstr>Conclusion </vt:lpstr>
      <vt:lpstr>References </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Akashdeep Pal</cp:lastModifiedBy>
  <cp:revision>2307</cp:revision>
  <dcterms:created xsi:type="dcterms:W3CDTF">2010-04-09T07:36:15Z</dcterms:created>
  <dcterms:modified xsi:type="dcterms:W3CDTF">2026-05-16T12:38:35Z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